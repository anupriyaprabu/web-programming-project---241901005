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V" userId="5e3d3d80d37fbd04" providerId="LiveId" clId="{B05AFCA5-E326-4C66-8A4D-51A8C120871E}"/>
    <pc:docChg chg="modSld">
      <pc:chgData name="Bharath V" userId="5e3d3d80d37fbd04" providerId="LiveId" clId="{B05AFCA5-E326-4C66-8A4D-51A8C120871E}" dt="2026-10-15T04:50:42.499" v="52" actId="20577"/>
      <pc:docMkLst>
        <pc:docMk/>
      </pc:docMkLst>
      <pc:sldChg chg="modSp mod">
        <pc:chgData name="Bharath V" userId="5e3d3d80d37fbd04" providerId="LiveId" clId="{B05AFCA5-E326-4C66-8A4D-51A8C120871E}" dt="2026-10-15T04:50:42.499" v="52" actId="20577"/>
        <pc:sldMkLst>
          <pc:docMk/>
          <pc:sldMk cId="0" sldId="266"/>
        </pc:sldMkLst>
        <pc:spChg chg="mod">
          <ac:chgData name="Bharath V" userId="5e3d3d80d37fbd04" providerId="LiveId" clId="{B05AFCA5-E326-4C66-8A4D-51A8C120871E}" dt="2026-10-15T04:50:42.499" v="52" actId="20577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1168" cy="6711696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2926080" cy="9451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1828800"/>
            <a:ext cx="2514600" cy="310896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865376"/>
            <a:ext cx="24414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3B0D2A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6400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t>SHOPEASY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6583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400" b="1" i="0">
                <a:solidFill>
                  <a:srgbClr val="FF80B5"/>
                </a:solidFill>
                <a:latin typeface="Aptos"/>
              </a:defRPr>
            </a:pPr>
            <a:r>
              <a:t>Mini E-Commerce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22191"/>
            <a:ext cx="62179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 i="0">
                <a:solidFill>
                  <a:srgbClr val="F1DAE5"/>
                </a:solidFill>
                <a:latin typeface="Aptos"/>
              </a:defRPr>
            </a:pPr>
            <a:r>
              <a:t>A full-stack shopping website built with Flask and SQLite: browse 100 products, manage a cart and pay by COD or UPI QR.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554480"/>
            <a:ext cx="3749039" cy="4114800"/>
          </a:xfrm>
          <a:prstGeom prst="roundRect">
            <a:avLst>
              <a:gd name="adj" fmla="val 12000"/>
            </a:avLst>
          </a:prstGeom>
          <a:solidFill>
            <a:srgbClr val="4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66760" y="2011680"/>
            <a:ext cx="233172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66760" y="201168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2112264"/>
            <a:ext cx="1737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SHOPEASY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697480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2743200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779776"/>
            <a:ext cx="1051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3B0D2A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2807208"/>
            <a:ext cx="292608" cy="16459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95360" y="3319272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22792" y="336499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401568"/>
            <a:ext cx="1051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3B0D2A"/>
                </a:solidFill>
                <a:latin typeface="Aptos"/>
              </a:defRPr>
            </a:pPr>
            <a:r>
              <a:t>Fashion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3429000"/>
            <a:ext cx="292608" cy="16459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95360" y="3941064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22792" y="3986784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023360"/>
            <a:ext cx="1051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3B0D2A"/>
                </a:solidFill>
                <a:latin typeface="Aptos"/>
              </a:defRPr>
            </a:pPr>
            <a:r>
              <a:t>Books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4050792"/>
            <a:ext cx="292608" cy="16459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13648" y="4645152"/>
            <a:ext cx="1828800" cy="201168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45552" y="5257800"/>
            <a:ext cx="3337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Browse  •  Add to cart  •  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715000"/>
            <a:ext cx="685800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ANU PRIYA P</a:t>
            </a:r>
            <a:r>
              <a:rPr dirty="0"/>
              <a:t>   |   Reg. No.: </a:t>
            </a:r>
            <a:r>
              <a:rPr lang="en-IN" dirty="0"/>
              <a:t>241901005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749808" y="6080760"/>
            <a:ext cx="7406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EAC2D5"/>
                </a:solidFill>
                <a:latin typeface="Aptos"/>
              </a:defRPr>
            </a:pPr>
            <a:r>
              <a:t>Department of Computer Science and Engineering (Cyber Security)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1447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100" b="1" i="0">
                <a:solidFill>
                  <a:srgbClr val="FF80B5"/>
                </a:solidFill>
                <a:latin typeface="Aptos"/>
              </a:defRPr>
            </a:pPr>
            <a:r>
              <a:t>Rajalakshmi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01 • INTRODUCTION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57800" cy="196596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82296" cy="19659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58191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C2185B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93392"/>
            <a:ext cx="487375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ShopEasy is a full-stack e-commerce website with 100 products in 8 categories. It brings user accounts, live search, an AJAX cart, COD/UPI checkout, order history and an admin panel into one 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49240" cy="196596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82296" cy="1965960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581912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80B5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93392"/>
            <a:ext cx="496519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Online shoppers need a simple, fast way to find products and pay. ShopEasy shows how HTML, CSS, JavaScript, Flask and SQLite work together to run a complete online store.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C2185B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444398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FF80B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42569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Browse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4632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100 products, 8 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42976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66744" y="444398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FF80B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3944" y="442569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6744" y="484632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Live search and filters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42976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83096" y="444398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FF80B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442569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484632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Cart, quantity and totals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42976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99448" y="444398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FF80B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442569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484632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Cash on Delivery or UPI QR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02 • PROJECT DEFINITION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12080" cy="4434840"/>
          </a:xfrm>
          <a:prstGeom prst="roundRect">
            <a:avLst>
              <a:gd name="adj" fmla="val 12000"/>
            </a:avLst>
          </a:prstGeom>
          <a:solidFill>
            <a:srgbClr val="3B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19072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 i="0">
                <a:solidFill>
                  <a:srgbClr val="FF80B5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43484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0" i="0">
                <a:solidFill>
                  <a:srgbClr val="FFFFFF"/>
                </a:solidFill>
                <a:latin typeface="Aptos"/>
              </a:defRPr>
            </a:pPr>
            <a:r>
              <a:t>Many small-shop websites are cluttered, reload on every action and offer few payment options. Users need a simple flow from finding a product to tracking an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96512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80B5"/>
                </a:solidFill>
                <a:latin typeface="Aptos"/>
              </a:defRPr>
            </a:pPr>
            <a:r>
              <a:t>PROJECT 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17136"/>
            <a:ext cx="4297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 i="0">
                <a:solidFill>
                  <a:srgbClr val="FFFFFF"/>
                </a:solidFill>
                <a:latin typeface="Aptos"/>
              </a:defRPr>
            </a:pPr>
            <a:r>
              <a:t>Build a complete, database-backed online store with secure login, cart, checkout and admin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 i="0">
                <a:solidFill>
                  <a:srgbClr val="C2185B"/>
                </a:solidFill>
                <a:latin typeface="Aptos"/>
              </a:defRPr>
            </a:pPr>
            <a:r>
              <a:t>KEY OBJECTIVES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116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2139696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3B0D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0116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Secure user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331720"/>
            <a:ext cx="4343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Sign-up and login with hashed passwords.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9260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3054096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3B0D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9260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Easy product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246120"/>
            <a:ext cx="4343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Categories, pagination and live search.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8404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3968496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3B0D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8404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Smooth cart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160520"/>
            <a:ext cx="4343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Add, update and remove items without page reload.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7548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4882896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3B0D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7548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Flexible checkout &amp;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5074920"/>
            <a:ext cx="4343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COD or UPI QR payment; admin manages 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Existing Approach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03 • SOLUTION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257800" cy="4251960"/>
          </a:xfrm>
          <a:prstGeom prst="roundRect">
            <a:avLst>
              <a:gd name="adj" fmla="val 12000"/>
            </a:avLst>
          </a:prstGeom>
          <a:solidFill>
            <a:srgbClr val="FA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4251960"/>
          </a:xfrm>
          <a:prstGeom prst="roundRect">
            <a:avLst>
              <a:gd name="adj" fmla="val 12000"/>
            </a:avLst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783080"/>
            <a:ext cx="2423160" cy="310896"/>
          </a:xfrm>
          <a:prstGeom prst="roundRect">
            <a:avLst>
              <a:gd name="adj" fmla="val 12000"/>
            </a:avLst>
          </a:prstGeom>
          <a:solidFill>
            <a:srgbClr val="F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1819656"/>
            <a:ext cx="235000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B94C4C"/>
                </a:solidFill>
                <a:latin typeface="Aptos"/>
              </a:defRPr>
            </a:pPr>
            <a:r>
              <a:t>COMMON USER 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452628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• Long product lists are hard to search</a:t>
            </a:r>
          </a:p>
          <a:p>
            <a:pPr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• Every cart action reloads the page</a:t>
            </a:r>
          </a:p>
          <a:p>
            <a:pPr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• Few payment options for small shops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• No simple panel to manage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783080"/>
            <a:ext cx="2148840" cy="310896"/>
          </a:xfrm>
          <a:prstGeom prst="roundRect">
            <a:avLst>
              <a:gd name="adj" fmla="val 12000"/>
            </a:avLst>
          </a:prstGeom>
          <a:solidFill>
            <a:srgbClr val="DE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1819656"/>
            <a:ext cx="207568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2C8B63"/>
                </a:solidFill>
                <a:latin typeface="Aptos"/>
              </a:defRPr>
            </a:pPr>
            <a:r>
              <a:t>SHOPEASY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452628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• Categories, pages and live search</a:t>
            </a:r>
          </a:p>
          <a:p>
            <a:pPr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• AJAX cart with instant item count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• Cash on Delivery or UPI QR payment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3B0D2A"/>
                </a:solidFill>
                <a:latin typeface="Aptos"/>
              </a:defRPr>
            </a:pPr>
            <a:r>
              <a:t>• Admin panel for products and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1">
                <a:solidFill>
                  <a:srgbClr val="76606C"/>
                </a:solidFill>
                <a:latin typeface="Aptos"/>
              </a:defRPr>
            </a:pPr>
            <a:r>
              <a:t>ShopEasy is a lab project that demonstrates a complete store flow; it is not a replacement for a production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04 • DESIGN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C2185B"/>
                </a:solidFill>
                <a:latin typeface="Aptos"/>
              </a:defRPr>
            </a:pPr>
            <a:r>
              <a:t>FULL-STACK COMPONENT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96596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167128"/>
            <a:ext cx="1746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80B5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496312"/>
            <a:ext cx="1746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3B0D2A"/>
                </a:solidFill>
                <a:latin typeface="Aptos"/>
              </a:defRPr>
            </a:pPr>
            <a:r>
              <a:t>Browser / shopper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54680" y="196596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64408" y="2167128"/>
            <a:ext cx="1746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C2185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496312"/>
            <a:ext cx="1746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3B0D2A"/>
                </a:solidFill>
                <a:latin typeface="Aptos"/>
              </a:defRPr>
            </a:pPr>
            <a:r>
              <a:t>HTML · CSS · 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0" y="196596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87568" y="2167128"/>
            <a:ext cx="1746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C2185B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496312"/>
            <a:ext cx="1746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3B0D2A"/>
                </a:solidFill>
                <a:latin typeface="Aptos"/>
              </a:defRPr>
            </a:pPr>
            <a:r>
              <a:t>Routes &amp; JSON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01000" y="196596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0727" y="2167128"/>
            <a:ext cx="1746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C2185B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2496312"/>
            <a:ext cx="1746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3B0D2A"/>
                </a:solidFill>
                <a:latin typeface="Aptos"/>
              </a:defRPr>
            </a:pPr>
            <a:r>
              <a:t>5 tables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3886200"/>
            <a:ext cx="1600200" cy="96012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12680" y="3886200"/>
            <a:ext cx="1600200" cy="109728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2407" y="4087368"/>
            <a:ext cx="138074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80B5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7" y="4416552"/>
            <a:ext cx="13807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3B0D2A"/>
                </a:solidFill>
                <a:latin typeface="Aptos"/>
              </a:defRPr>
            </a:pPr>
            <a:r>
              <a:t>Orders &amp; payments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97480" y="2450592"/>
            <a:ext cx="457200" cy="0"/>
          </a:xfrm>
          <a:prstGeom prst="line">
            <a:avLst/>
          </a:prstGeom>
          <a:ln w="31750">
            <a:solidFill>
              <a:srgbClr val="FF8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20640" y="2450592"/>
            <a:ext cx="457200" cy="0"/>
          </a:xfrm>
          <a:prstGeom prst="line">
            <a:avLst/>
          </a:prstGeom>
          <a:ln w="31750">
            <a:solidFill>
              <a:srgbClr val="FF8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43800" y="2450592"/>
            <a:ext cx="457200" cy="0"/>
          </a:xfrm>
          <a:prstGeom prst="line">
            <a:avLst/>
          </a:prstGeom>
          <a:ln w="31750">
            <a:solidFill>
              <a:srgbClr val="FF8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66960" y="2606040"/>
            <a:ext cx="777240" cy="1280160"/>
          </a:xfrm>
          <a:prstGeom prst="line">
            <a:avLst/>
          </a:prstGeom>
          <a:ln w="31750">
            <a:solidFill>
              <a:srgbClr val="FF8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4400" y="3886200"/>
            <a:ext cx="8138160" cy="1051560"/>
          </a:xfrm>
          <a:prstGeom prst="roundRect">
            <a:avLst>
              <a:gd name="adj" fmla="val 12000"/>
            </a:avLst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09651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C2185B"/>
                </a:solidFill>
                <a:latin typeface="Aptos"/>
              </a:defRPr>
            </a:pPr>
            <a:r>
              <a:t>INTERACTION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069080"/>
            <a:ext cx="5897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3B0D2A"/>
                </a:solidFill>
                <a:latin typeface="Aptos"/>
              </a:defRPr>
            </a:pPr>
            <a:r>
              <a:t>Login  →  Browse products  →  Add to cart  →  Checkout  →  COD / UPI QR  →  Order history  →  Admin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 i="1">
                <a:solidFill>
                  <a:srgbClr val="76606C"/>
                </a:solidFill>
                <a:latin typeface="Aptos"/>
              </a:defRPr>
            </a:pPr>
            <a:r>
              <a:t>Database: users, products, cart, orders and order_items tables in SQLite, created automatically with sample data on first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Core Modules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05 • FUNCTIONAL MODULES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User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Register, login and logout with hashed passwords.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63440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0016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3B0D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Product Catalogue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100 products, 8 categories, 12 per page.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85632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Live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Instant results from the JSON product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7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3B0D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Cart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AJAX add, update quantity and remove items.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663440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0016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Checkout &amp; 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COD or UPI QR with 12-digit UTR check.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02752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85632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8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3B0D2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2185B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3B0D2A"/>
                </a:solidFill>
                <a:latin typeface="Aptos"/>
              </a:defRPr>
            </a:pPr>
            <a:r>
              <a:t>Add/delete products, update order and payment.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607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1">
                <a:solidFill>
                  <a:srgbClr val="76606C"/>
                </a:solidFill>
                <a:latin typeface="Aptos"/>
              </a:defRPr>
            </a:pPr>
            <a:r>
              <a:t>Stock is checked at checkout and reduced automatically when an order is placed; customers see payment status in Order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06 • IMPLEMENTATION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2514600" cy="306324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2514600" cy="164592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100" b="1" i="0">
                <a:solidFill>
                  <a:srgbClr val="C2185B"/>
                </a:solidFill>
                <a:latin typeface="Aptos"/>
              </a:defRPr>
            </a:pPr>
            <a:r>
              <a:t>HTML /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76606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246120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3B0D2A"/>
                </a:solidFill>
                <a:latin typeface="Aptos"/>
              </a:defRPr>
            </a:pPr>
            <a:r>
              <a:t>Jinja2 templates with responsive CSS layout and styling.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1645920"/>
            <a:ext cx="2514600" cy="306324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38728" y="1645920"/>
            <a:ext cx="2514600" cy="16459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8" y="2057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100" b="1" i="0">
                <a:solidFill>
                  <a:srgbClr val="C2185B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7249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76606C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246120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3B0D2A"/>
                </a:solidFill>
                <a:latin typeface="Aptos"/>
              </a:defRPr>
            </a:pPr>
            <a:r>
              <a:t>Fetch API for live search, AJAX cart and form validation.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1645920"/>
            <a:ext cx="2514600" cy="306324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91656" y="1645920"/>
            <a:ext cx="2514600" cy="164592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4536" y="2057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100" b="1" i="0">
                <a:solidFill>
                  <a:srgbClr val="C2185B"/>
                </a:solidFill>
                <a:latin typeface="Aptos"/>
              </a:defRPr>
            </a:pPr>
            <a:r>
              <a:t>Python Flask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7249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76606C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246120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3B0D2A"/>
                </a:solidFill>
                <a:latin typeface="Aptos"/>
              </a:defRPr>
            </a:pPr>
            <a:r>
              <a:t>Routes, sessions, login checks, JSON API and UPI QR.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44584" y="1645920"/>
            <a:ext cx="2514600" cy="306324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44584" y="1645920"/>
            <a:ext cx="2514600" cy="164592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27463" y="2057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100" b="1" i="0">
                <a:solidFill>
                  <a:srgbClr val="C2185B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3" y="27249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76606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3246120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3B0D2A"/>
                </a:solidFill>
                <a:latin typeface="Aptos"/>
              </a:defRPr>
            </a:pPr>
            <a:r>
              <a:t>Stores users, products, cart, orders and order items.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166360"/>
            <a:ext cx="10241280" cy="594360"/>
          </a:xfrm>
          <a:prstGeom prst="roundRect">
            <a:avLst>
              <a:gd name="adj" fmla="val 12000"/>
            </a:avLst>
          </a:prstGeom>
          <a:solidFill>
            <a:srgbClr val="3B0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349240"/>
            <a:ext cx="9692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t>Run with: pip install flask qrcode  →  python app.py  →  open http://127.0.0.1:5000 in a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Interface Preview &amp;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07 • UI WALKTHROUGH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65836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A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6583680" cy="384048"/>
          </a:xfrm>
          <a:prstGeom prst="roundRect">
            <a:avLst>
              <a:gd name="adj" fmla="val 12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1444752"/>
            <a:ext cx="100584" cy="100584"/>
          </a:xfrm>
          <a:prstGeom prst="ellipse">
            <a:avLst/>
          </a:prstGeom>
          <a:solidFill>
            <a:srgbClr val="F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2416" y="1444752"/>
            <a:ext cx="100584" cy="100584"/>
          </a:xfrm>
          <a:prstGeom prst="ellipse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43584" y="1444752"/>
            <a:ext cx="100584" cy="100584"/>
          </a:xfrm>
          <a:prstGeom prst="ellipse">
            <a:avLst/>
          </a:prstGeom>
          <a:solidFill>
            <a:srgbClr val="5CC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1417320"/>
            <a:ext cx="5166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ShopEasy  |  Home   Orders   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74519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100" b="1" i="0">
                <a:solidFill>
                  <a:srgbClr val="C2185B"/>
                </a:solidFill>
                <a:latin typeface="Aptos"/>
              </a:defRPr>
            </a:pPr>
            <a:r>
              <a:t>Shop everything you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267712"/>
            <a:ext cx="5212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76606C"/>
                </a:solidFill>
                <a:latin typeface="Aptos"/>
              </a:defRPr>
            </a:pPr>
            <a:r>
              <a:t>100 products • search, add to cart and pay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724912"/>
            <a:ext cx="1783080" cy="2011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89888" y="2907792"/>
            <a:ext cx="822960" cy="822960"/>
          </a:xfrm>
          <a:prstGeom prst="ellipse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44752" y="3072384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3B0D2A"/>
                </a:solidFill>
                <a:latin typeface="Aptos"/>
              </a:defRPr>
            </a:pPr>
            <a:r>
              <a:t>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85876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C2185B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18795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3B0D2A"/>
                </a:solidFill>
                <a:latin typeface="Aptos"/>
              </a:defRPr>
            </a:pPr>
            <a:r>
              <a:t>Headphones • Watch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5296" y="4462272"/>
            <a:ext cx="1143000" cy="182880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07792" y="2724912"/>
            <a:ext cx="1783080" cy="2011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383280" y="2907792"/>
            <a:ext cx="822960" cy="82296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38144" y="3072384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3B0D2A"/>
                </a:solidFill>
                <a:latin typeface="Aptos"/>
              </a:defRPr>
            </a:pPr>
            <a:r>
              <a:t>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85876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C2185B"/>
                </a:solidFill>
                <a:latin typeface="Aptos"/>
              </a:defRPr>
            </a:pPr>
            <a:r>
              <a:t>Fashion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18795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3B0D2A"/>
                </a:solidFill>
                <a:latin typeface="Aptos"/>
              </a:defRPr>
            </a:pPr>
            <a:r>
              <a:t>Shirts • Shoes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18688" y="4462272"/>
            <a:ext cx="1143000" cy="182880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901184" y="2724912"/>
            <a:ext cx="1783080" cy="2011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376672" y="2907792"/>
            <a:ext cx="822960" cy="822960"/>
          </a:xfrm>
          <a:prstGeom prst="ellipse">
            <a:avLst/>
          </a:prstGeom>
          <a:solidFill>
            <a:srgbClr val="2C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31536" y="3072384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3B0D2A"/>
                </a:solidFill>
                <a:latin typeface="Aptos"/>
              </a:defRPr>
            </a:pPr>
            <a:r>
              <a:t>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385876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C2185B"/>
                </a:solidFill>
                <a:latin typeface="Aptos"/>
              </a:defRPr>
            </a:pPr>
            <a:r>
              <a:t>Books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418795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3B0D2A"/>
                </a:solidFill>
                <a:latin typeface="Aptos"/>
              </a:defRPr>
            </a:pPr>
            <a:r>
              <a:t>Novels • Guides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4462272"/>
            <a:ext cx="1143000" cy="182880"/>
          </a:xfrm>
          <a:prstGeom prst="roundRect">
            <a:avLst>
              <a:gd name="adj" fmla="val 12000"/>
            </a:avLst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212080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 i="1">
                <a:solidFill>
                  <a:srgbClr val="76606C"/>
                </a:solidFill>
                <a:latin typeface="Aptos"/>
              </a:defRPr>
            </a:pPr>
            <a:r>
              <a:t>Illustrative layout of the home page; use a live browser screenshot if your guide requires the exact running interface.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1481328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C2185B"/>
                </a:solidFill>
                <a:latin typeface="Aptos"/>
              </a:defRPr>
            </a:pPr>
            <a:r>
              <a:t>USER JOURNEY</a:t>
            </a:r>
          </a:p>
        </p:txBody>
      </p:sp>
      <p:sp>
        <p:nvSpPr>
          <p:cNvPr id="37" name="Oval 36"/>
          <p:cNvSpPr/>
          <p:nvPr/>
        </p:nvSpPr>
        <p:spPr>
          <a:xfrm>
            <a:off x="7845552" y="2011680"/>
            <a:ext cx="384048" cy="384048"/>
          </a:xfrm>
          <a:prstGeom prst="ellipse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2093976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3B0D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2066544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3B0D2A"/>
                </a:solidFill>
                <a:latin typeface="Aptos"/>
              </a:defRPr>
            </a:pPr>
            <a:r>
              <a:t>Sign up / login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37575" y="2395728"/>
            <a:ext cx="0" cy="310896"/>
          </a:xfrm>
          <a:prstGeom prst="line">
            <a:avLst/>
          </a:prstGeom>
          <a:ln w="22860">
            <a:solidFill>
              <a:srgbClr val="FAD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845552" y="2724912"/>
            <a:ext cx="384048" cy="384048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9560" y="2807208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79776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3B0D2A"/>
                </a:solidFill>
                <a:latin typeface="Aptos"/>
              </a:defRPr>
            </a:pPr>
            <a:r>
              <a:t>Browse or search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037575" y="3108960"/>
            <a:ext cx="0" cy="310896"/>
          </a:xfrm>
          <a:prstGeom prst="line">
            <a:avLst/>
          </a:prstGeom>
          <a:ln w="22860">
            <a:solidFill>
              <a:srgbClr val="FAD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7845552" y="3438144"/>
            <a:ext cx="384048" cy="384048"/>
          </a:xfrm>
          <a:prstGeom prst="ellipse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9560" y="3520440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3B0D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493008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3B0D2A"/>
                </a:solidFill>
                <a:latin typeface="Aptos"/>
              </a:defRPr>
            </a:pPr>
            <a:r>
              <a:t>Add to cart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37575" y="3822192"/>
            <a:ext cx="0" cy="310896"/>
          </a:xfrm>
          <a:prstGeom prst="line">
            <a:avLst/>
          </a:prstGeom>
          <a:ln w="22860">
            <a:solidFill>
              <a:srgbClr val="FAD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845552" y="4151376"/>
            <a:ext cx="384048" cy="384048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09560" y="4233672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420624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3B0D2A"/>
                </a:solidFill>
                <a:latin typeface="Aptos"/>
              </a:defRPr>
            </a:pPr>
            <a:r>
              <a:t>Checkout: COD / UPI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37575" y="4535424"/>
            <a:ext cx="0" cy="310896"/>
          </a:xfrm>
          <a:prstGeom prst="line">
            <a:avLst/>
          </a:prstGeom>
          <a:ln w="22860">
            <a:solidFill>
              <a:srgbClr val="FAD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845552" y="4864608"/>
            <a:ext cx="384048" cy="384048"/>
          </a:xfrm>
          <a:prstGeom prst="ellipse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09560" y="4946904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3B0D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4919472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3B0D2A"/>
                </a:solidFill>
                <a:latin typeface="Aptos"/>
              </a:defRPr>
            </a:pPr>
            <a:r>
              <a:t>Track in Order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Testing &amp; 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08 • QUALITY CHECKS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C2185B"/>
                </a:solidFill>
                <a:latin typeface="Aptos"/>
              </a:defRPr>
            </a:pPr>
            <a:r>
              <a:t>FUNCTIONAL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7824" y="2048256"/>
            <a:ext cx="310896" cy="310896"/>
          </a:xfrm>
          <a:prstGeom prst="ellipse">
            <a:avLst/>
          </a:prstGeom>
          <a:solidFill>
            <a:srgbClr val="2C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2075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947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C2185B"/>
                </a:solidFill>
                <a:latin typeface="Aptos"/>
              </a:defRPr>
            </a:pPr>
            <a:r>
              <a:t>Login &amp;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221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Duplicate emails rejected; wrong password shows an error.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828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9944" y="2048256"/>
            <a:ext cx="310896" cy="310896"/>
          </a:xfrm>
          <a:prstGeom prst="ellipse">
            <a:avLst/>
          </a:prstGeom>
          <a:solidFill>
            <a:srgbClr val="2C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2075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1947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C2185B"/>
                </a:solidFill>
                <a:latin typeface="Aptos"/>
              </a:defRPr>
            </a:pPr>
            <a:r>
              <a:t>Search &amp;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2221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Live search and category filter show matching products.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971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77824" y="3191256"/>
            <a:ext cx="310896" cy="310896"/>
          </a:xfrm>
          <a:prstGeom prst="ellipse">
            <a:avLst/>
          </a:prstGeom>
          <a:solidFill>
            <a:srgbClr val="2C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" y="3218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3090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C2185B"/>
                </a:solidFill>
                <a:latin typeface="Aptos"/>
              </a:defRPr>
            </a:pPr>
            <a:r>
              <a:t>Cart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3364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Add, update and remove work without page reload.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2971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3191256"/>
            <a:ext cx="310896" cy="310896"/>
          </a:xfrm>
          <a:prstGeom prst="ellipse">
            <a:avLst/>
          </a:prstGeom>
          <a:solidFill>
            <a:srgbClr val="2C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7376" y="3218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7144" y="3090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C2185B"/>
                </a:solidFill>
                <a:latin typeface="Aptos"/>
              </a:defRPr>
            </a:pPr>
            <a:r>
              <a:t>Stock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3364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Orders above available stock are blocked.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114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4334256"/>
            <a:ext cx="310896" cy="310896"/>
          </a:xfrm>
          <a:prstGeom prst="ellipse">
            <a:avLst/>
          </a:prstGeom>
          <a:solidFill>
            <a:srgbClr val="2C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" y="4361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4233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C2185B"/>
                </a:solidFill>
                <a:latin typeface="Aptos"/>
              </a:defRPr>
            </a:pPr>
            <a:r>
              <a:t>UPI 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5024" y="4507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QR shows the cart total; UTR must be 12 digits.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4114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09944" y="4334256"/>
            <a:ext cx="310896" cy="310896"/>
          </a:xfrm>
          <a:prstGeom prst="ellipse">
            <a:avLst/>
          </a:prstGeom>
          <a:solidFill>
            <a:srgbClr val="2C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7376" y="4361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4233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C2185B"/>
                </a:solidFill>
                <a:latin typeface="Aptos"/>
              </a:defRPr>
            </a:pPr>
            <a:r>
              <a:t>Admin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67144" y="4507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3B0D2A"/>
                </a:solidFill>
                <a:latin typeface="Aptos"/>
              </a:defRPr>
            </a:pPr>
            <a:r>
              <a:t>Only the admin can open the dashboard and edit orders.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1">
                <a:solidFill>
                  <a:srgbClr val="76606C"/>
                </a:solidFill>
                <a:latin typeface="Aptos"/>
              </a:defRPr>
            </a:pPr>
            <a:r>
              <a:t>Review note: verify each item in the browser during the project demonstration (admin login: admin@shopeasy.com).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C2185B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76606C"/>
                </a:solidFill>
                <a:latin typeface="Aptos"/>
              </a:defRPr>
            </a:pPr>
            <a:r>
              <a:t>09 • NEXT STEPS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F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76606C"/>
                </a:solidFill>
                <a:latin typeface="Aptos"/>
              </a:defRPr>
            </a:pPr>
            <a: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C2185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212080" cy="416052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82296" cy="416052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673351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C2185B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84831"/>
            <a:ext cx="4828032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UPI payment is verified manually by the admin</a:t>
            </a:r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SQLite suits a single small store only</a:t>
            </a:r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No product images; emoji icons are used</a:t>
            </a:r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No email/SMS order alerts or live delivery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212080" cy="4160520"/>
          </a:xfrm>
          <a:prstGeom prst="roundRect">
            <a:avLst>
              <a:gd name="adj" fmla="val 12000"/>
            </a:avLst>
          </a:prstGeom>
          <a:solidFill>
            <a:srgbClr val="F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82296" cy="4160520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673351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80B5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084831"/>
            <a:ext cx="4828032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Payment gateway with automatic verification</a:t>
            </a:r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Product images, reviews and ratings</a:t>
            </a:r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Wishlist and discount coupons</a:t>
            </a:r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Email / SMS order notifications</a:t>
            </a:r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3B0D2A"/>
                </a:solidFill>
                <a:latin typeface="Aptos"/>
              </a:defRPr>
            </a:pPr>
            <a:r>
              <a:t>• Deploy online with MySQL or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70448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1">
                <a:solidFill>
                  <a:srgbClr val="76606C"/>
                </a:solidFill>
                <a:latin typeface="Aptos"/>
              </a:defRPr>
            </a:pPr>
            <a:r>
              <a:t>The proposed enhancements describe future scope, not features claimed as already implemented.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2468880" cy="7975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00200"/>
            <a:ext cx="5029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3100" b="1" i="0">
                <a:solidFill>
                  <a:srgbClr val="FF80B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6400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200" b="0" i="0">
                <a:solidFill>
                  <a:srgbClr val="FFFFFF"/>
                </a:solidFill>
                <a:latin typeface="Aptos"/>
              </a:defRPr>
            </a:pPr>
            <a:r>
              <a:t>ShopEasy shows how HTML, CSS, JavaScript, Flask and SQLite combine into a complete online store with accounts, search, cart, COD/UPI checkout and an admin panel.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11480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80B5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98848"/>
            <a:ext cx="56692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 i="0">
                <a:solidFill>
                  <a:srgbClr val="F3DCE7"/>
                </a:solidFill>
                <a:latin typeface="Aptos"/>
              </a:defRPr>
            </a:pPr>
            <a:r>
              <a:t>• Complete full-stack shopping flow</a:t>
            </a:r>
          </a:p>
          <a:p>
            <a:pPr>
              <a:spcAft>
                <a:spcPts val="600"/>
              </a:spcAft>
              <a:defRPr sz="1600" b="0" i="0">
                <a:solidFill>
                  <a:srgbClr val="F3DCE7"/>
                </a:solidFill>
                <a:latin typeface="Aptos"/>
              </a:defRPr>
            </a:pPr>
            <a:r>
              <a:t>• Secure login and real database storage</a:t>
            </a:r>
          </a:p>
          <a:p>
            <a:pPr>
              <a:spcAft>
                <a:spcPts val="600"/>
              </a:spcAft>
              <a:defRPr sz="1600" b="0" i="0">
                <a:solidFill>
                  <a:srgbClr val="F3DCE7"/>
                </a:solidFill>
                <a:latin typeface="Aptos"/>
              </a:defRPr>
            </a:pPr>
            <a:r>
              <a:t>• Ready to extend with a payment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3429000" cy="3017520"/>
          </a:xfrm>
          <a:prstGeom prst="roundRect">
            <a:avLst>
              <a:gd name="adj" fmla="val 12000"/>
            </a:avLst>
          </a:prstGeom>
          <a:solidFill>
            <a:srgbClr val="4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2560320"/>
            <a:ext cx="2880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900" b="1" i="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3375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0" i="0">
                <a:solidFill>
                  <a:srgbClr val="FF80B5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977639"/>
            <a:ext cx="2651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EBC3D6"/>
                </a:solidFill>
                <a:latin typeface="Aptos"/>
              </a:defRPr>
            </a:pPr>
            <a:r>
              <a:t>ShopEasy • Project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44768"/>
            <a:ext cx="7498079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EBC3D6"/>
                </a:solidFill>
                <a:latin typeface="Aptos"/>
              </a:defRPr>
            </a:pPr>
            <a:r>
              <a:rPr dirty="0"/>
              <a:t>Presented by </a:t>
            </a:r>
            <a:r>
              <a:rPr lang="en-IN" dirty="0"/>
              <a:t>Anu Priya P</a:t>
            </a:r>
            <a:r>
              <a:rPr dirty="0"/>
              <a:t>  |  Reg. No. </a:t>
            </a:r>
            <a:r>
              <a:rPr lang="en-IN"/>
              <a:t>241901005</a:t>
            </a:r>
            <a:r>
              <a:rPr dirty="0"/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1447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100" b="1" i="0">
                <a:solidFill>
                  <a:srgbClr val="FF80B5"/>
                </a:solidFill>
                <a:latin typeface="Aptos"/>
              </a:defRPr>
            </a:pPr>
            <a:r>
              <a:t>Rajalakshmi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1068</Words>
  <Application>Microsoft Office PowerPoint</Application>
  <PresentationFormat>Widescreen</PresentationFormat>
  <Paragraphs>216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V</cp:lastModifiedBy>
  <cp:revision>2</cp:revision>
  <dcterms:created xsi:type="dcterms:W3CDTF">2013-01-27T09:14:16Z</dcterms:created>
  <dcterms:modified xsi:type="dcterms:W3CDTF">2026-10-15T04:51:52Z</dcterms:modified>
  <cp:category/>
</cp:coreProperties>
</file>